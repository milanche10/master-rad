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807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54864" cy="514807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0292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Digitalna forenzička analiza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4048" y="1188720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mobilnog uređaja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" y="182880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Studija slučaja: Samsung Galaxy S10  ·  DFRWS 2021 Challenge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2212848"/>
            <a:ext cx="3200400" cy="10973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578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S10 (SM-G973F)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169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9169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10, Exynos 9820, SDK 29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255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Vlasnik: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2552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Werner Von Strucker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5935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5935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Analiza: 17.05.2026.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KORIŠĆENI ALATI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59436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59436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Autopsy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1243584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24358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DBeaver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892808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18928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2542032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25420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3191256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319125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20840" y="384048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12280" y="384048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" y="4846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rad · FTN Novi Sad · 2025.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PREZENTACIJE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572768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776" y="1737360"/>
            <a:ext cx="329184" cy="329184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63677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Teorija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9110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Digitalna forenzika, Android arhitektura, metode akvizicije, anti-forenzika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1572768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737360"/>
            <a:ext cx="329184" cy="329184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3677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Metodologija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5504" y="19110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Lanac staratelja, odabir alata, analitički okvir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68296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" y="2532888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4323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Identifikacija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7066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 i korisnik — build.prop, JWT, shared_prefs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2368296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2532888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5504" y="24323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Komunikacija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75504" y="27066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enkripcija, OmniNotes trojanac, DEX analiza, pozivi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163824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" y="3328416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3227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Lokacija &amp; Mediji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35021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EXIF, izviđačke fotografije, MP3 skimming signal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3163824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3328416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75504" y="3227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Finansije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75504" y="35021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BCH/ETH kriptovalute, blockchain verifikacija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959352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" y="412394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40233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Anti-forenzika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2688" y="4297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Kessler taksonomija — sve 4 kategorije identifikovane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26864" y="3959352"/>
            <a:ext cx="4023360" cy="667512"/>
          </a:xfrm>
          <a:prstGeom prst="roundRect">
            <a:avLst>
              <a:gd name="adj" fmla="val 821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4123944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75504" y="40233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75504" y="4297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Hronologija, dokazni lanac, preporuke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OKVIR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Digitalna forenzika i Locard-ov princip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8375904" cy="1325880"/>
          </a:xfrm>
          <a:prstGeom prst="roundRect">
            <a:avLst>
              <a:gd name="adj" fmla="val 5517"/>
            </a:avLst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Svaki kontakt ostavlja trag. U digitalnom svetu: svaka aktivnost na uređaju generiše artefakte koji se mogu detektovati, analizirati i interpretirati.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Edmond Locard, 1920. | Digitalna adaptacija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926080"/>
            <a:ext cx="1965960" cy="1664208"/>
          </a:xfrm>
          <a:prstGeom prst="roundRect">
            <a:avLst>
              <a:gd name="adj" fmla="val 3297"/>
            </a:avLst>
          </a:prstGeom>
          <a:solidFill>
            <a:srgbClr val="0F2137"/>
          </a:solidFill>
          <a:ln w="9525">
            <a:solidFill>
              <a:srgbClr val="2E6B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926080"/>
            <a:ext cx="196596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" y="342900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Refutabilnost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730752"/>
            <a:ext cx="17465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mora biti moguće opovrgnuti — testabilan i reproducibilan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2926080"/>
            <a:ext cx="1965960" cy="1664208"/>
          </a:xfrm>
          <a:prstGeom prst="roundRect">
            <a:avLst>
              <a:gd name="adj" fmla="val 3297"/>
            </a:avLst>
          </a:prstGeom>
          <a:solidFill>
            <a:srgbClr val="0F2137"/>
          </a:solidFill>
          <a:ln w="9525">
            <a:solidFill>
              <a:srgbClr val="2E6B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2926080"/>
            <a:ext cx="196596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42032" y="342900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Demonstrabilnost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730752"/>
            <a:ext cx="17465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se mora jasno prikazati nespecijalistima (sudija, porota)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926080"/>
            <a:ext cx="1965960" cy="1664208"/>
          </a:xfrm>
          <a:prstGeom prst="roundRect">
            <a:avLst>
              <a:gd name="adj" fmla="val 3297"/>
            </a:avLst>
          </a:prstGeom>
          <a:solidFill>
            <a:srgbClr val="0F2137"/>
          </a:solidFill>
          <a:ln w="9525">
            <a:solidFill>
              <a:srgbClr val="2E6B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2926080"/>
            <a:ext cx="196596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90288" y="342900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Poznata nesigurnost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0288" y="3730752"/>
            <a:ext cx="17465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metod nosi inherentnu grešku koja mora biti kvantifikovana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28816" y="2926080"/>
            <a:ext cx="1965960" cy="1664208"/>
          </a:xfrm>
          <a:prstGeom prst="roundRect">
            <a:avLst>
              <a:gd name="adj" fmla="val 3297"/>
            </a:avLst>
          </a:prstGeom>
          <a:solidFill>
            <a:srgbClr val="0F2137"/>
          </a:solidFill>
          <a:ln w="9525">
            <a:solidFill>
              <a:srgbClr val="2E6B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28816" y="2926080"/>
            <a:ext cx="196596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38544" y="3429000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Objavljena metoda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38544" y="3730752"/>
            <a:ext cx="17465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Tehnika mora biti prihvaćena od naučne zajednice i dokumentovana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OKVIR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arhitektura — forenzički pogled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417320"/>
            <a:ext cx="54864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sloj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Chrome, BRD, OmniNotes, Signal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130552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1668B2"/>
          </a:solidFill>
          <a:ln w="12700">
            <a:solidFill>
              <a:srgbClr val="1668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130552"/>
            <a:ext cx="54864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03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okvir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780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Manager · Content Providers · TelephonyManager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843784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105A96"/>
          </a:solidFill>
          <a:ln w="12700">
            <a:solidFill>
              <a:srgbClr val="105A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843784"/>
            <a:ext cx="54864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169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/ Biblioteke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912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WebKit · AES · OpenSSL · Media Framework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557016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0A3D6E"/>
          </a:solidFill>
          <a:ln w="12700">
            <a:solidFill>
              <a:srgbClr val="0A3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557016"/>
            <a:ext cx="54864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0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jezgro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044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Drajveri: WiFi, Camera, Flash · Mrežna infrastruktura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1417320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Forenzički artefakti po sloju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71907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17190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sloj: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975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mmssms.db  ·  calllog.db  ·  Chrome History  ·  BRD Wallet 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243230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4323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okvir: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6883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shared_prefs JWT  ·  Google Account tokens  ·  App permissions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4920" y="314553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145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/ Biblioteke: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 ·  SQLCipher (Signal)  ·  APK DEX kod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74920" y="38587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8587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jezgro: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DCIM fotografije  ·  WifiConfigStore.xml  ·  build.prop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681728"/>
            <a:ext cx="8375904" cy="365760"/>
          </a:xfrm>
          <a:prstGeom prst="roundRect">
            <a:avLst>
              <a:gd name="adj" fmla="val 15000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" y="47274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 sistem: YAFFS2 (pre Android 2.3)  →  Ext4 sa journaling-om (oporavak obrisanih zapisa)  |  Particije: /system  /data  /recovery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OKVIR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Metode forenzičke akvizicije Android uređaja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2706624" cy="3401568"/>
          </a:xfrm>
          <a:prstGeom prst="roundRect">
            <a:avLst>
              <a:gd name="adj" fmla="val 2365"/>
            </a:avLst>
          </a:prstGeom>
          <a:solidFill>
            <a:srgbClr val="0F2137"/>
          </a:solidFill>
          <a:ln w="9525">
            <a:solidFill>
              <a:srgbClr val="5BA4C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536192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Logička akvizicija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93852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27AE60">
              <a:alpha val="30000"/>
            </a:srgbClr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38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Primenjena u ovom radu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1208" y="2240280"/>
            <a:ext cx="237744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304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" y="254203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054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Brza i neinvazivna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87121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zahteva rootovanje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163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svim korisničkim artefaktima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" y="3538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3776472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pristup Keystore-u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" y="4069080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41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Obrisani podaci nisu dostupni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" y="4361688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34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Sistem. particije ograničene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1444752"/>
            <a:ext cx="2706624" cy="3401568"/>
          </a:xfrm>
          <a:prstGeom prst="roundRect">
            <a:avLst>
              <a:gd name="adj" fmla="val 2365"/>
            </a:avLst>
          </a:prstGeom>
          <a:solidFill>
            <a:srgbClr val="F8FAFC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1536192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Fizička akvizicija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55848" y="2240280"/>
            <a:ext cx="2377440" cy="10973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304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254203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25054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celokupnoj memoriji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287121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Oporavak obrisanih podataka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55848" y="320040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163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Enkr. ključevi dostupni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55848" y="3538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55848" y="3776472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Zahteva root/exploit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55848" y="4069080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041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 od brisanja podataka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55848" y="4361688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4334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Dugotrajna procedura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53328" y="1444752"/>
            <a:ext cx="2706624" cy="3401568"/>
          </a:xfrm>
          <a:prstGeom prst="roundRect">
            <a:avLst>
              <a:gd name="adj" fmla="val 2365"/>
            </a:avLst>
          </a:prstGeom>
          <a:solidFill>
            <a:srgbClr val="F8FAFC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90488" y="1536192"/>
            <a:ext cx="402336" cy="40233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JTAG / Chip-off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90488" y="2240280"/>
            <a:ext cx="2377440" cy="10973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2304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90488" y="254203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5054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Hardverski nivo — zaobilazi softver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0488" y="287121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 dump memorije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90488" y="320040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3163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na oštećenim ur.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90488" y="3538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90488" y="3776472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Specij. hardware potreban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90488" y="4069080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041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 od uništenja uređaja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90488" y="4361688"/>
            <a:ext cx="109728" cy="1097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334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Visoka cijena i vještina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Literatura: Vidas et al. (2011) · Simao et al. (2011) · Sylve et al. (2012) · Andriotis et al. (2012) · Muller &amp; Spreitzenbarth (2013)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OKVIR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Anti-forenzika — definicija i taksonomija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1078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Harris (2006) · Kessler (2007) · Distefano et al. (2010)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1481328"/>
            <a:ext cx="8375904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Definicija (Ryan Harris, 2006):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"Anti-forenzika je svaki pokušaj kompromitiranja dostupnosti ili korisnosti digitalnih dokaza — sprečavanje nastanka dokaza, njihovo skrivanje ili manipulacija kako bi postali van dometa istražitelja."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24231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423160"/>
            <a:ext cx="201168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4871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" y="2898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32278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" y="3447288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4930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Steganografija, cloud pohrana, šifrovanje, skrivanje unutar legitimnih aplikacija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" y="4096512"/>
            <a:ext cx="1783080" cy="18288"/>
          </a:xfrm>
          <a:prstGeom prst="rect">
            <a:avLst/>
          </a:prstGeom>
          <a:solidFill>
            <a:srgbClr val="5BA4CF">
              <a:alpha val="40000"/>
            </a:srgbClr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41422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 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" y="414223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OmniNotes trojanac + nespašeni kontakt +41786909109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05456" y="24231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05456" y="2423160"/>
            <a:ext cx="20116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24871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615184" y="2898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artefakata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15184" y="32278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Wiping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15184" y="3447288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15184" y="34930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podataka ispod praga oporavka; brzo masovno brisanje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15184" y="4096512"/>
            <a:ext cx="1783080" cy="18288"/>
          </a:xfrm>
          <a:prstGeom prst="rect">
            <a:avLst/>
          </a:prstGeom>
          <a:solidFill>
            <a:srgbClr val="E8A838">
              <a:alpha val="4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41422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 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15184" y="414223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Kreiranje novih naloga 18.04. — napuštanje starog identiteta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26864" y="24231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2423160"/>
            <a:ext cx="2011680" cy="457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4871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36592" y="2898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Zamagljivanje tragova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36592" y="32278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Obfuscation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447288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4930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Lažne adrese, onion routeri, skraćeni URL-ovi, proxy serveri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36592" y="4096512"/>
            <a:ext cx="1783080" cy="18288"/>
          </a:xfrm>
          <a:prstGeom prst="rect">
            <a:avLst/>
          </a:prstGeom>
          <a:solidFill>
            <a:srgbClr val="2E6B9E">
              <a:alpha val="40000"/>
            </a:srgbClr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41422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 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414223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 → Azure Blob Storage; BCH relay novčanik (57 min.)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48272" y="242316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48272" y="2423160"/>
            <a:ext cx="2011680" cy="457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4871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58000" y="2898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Napadi na alate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58000" y="32278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Forensic Tools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3447288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4930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Falsifikovanje dokaza, unos kriptovanih podataka koji blokiraju alate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58000" y="4096512"/>
            <a:ext cx="1783080" cy="18288"/>
          </a:xfrm>
          <a:prstGeom prst="rect">
            <a:avLst/>
          </a:prstGeom>
          <a:solidFill>
            <a:srgbClr val="D9534F">
              <a:alpha val="40000"/>
            </a:srgbClr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41422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 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414223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SQLCipher DB; AES poruke koje Autopsy ne može dešifrovati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4 Kessler kategorije identifikovane su u analiziranom slučaju →  videti Slajd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METODOLOGIJA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Forenzički postupak i lanac staratelja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6304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572768"/>
            <a:ext cx="347472" cy="34747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536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5361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Izolacija uređaja, mreža isključena, dokumentacija stanja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4825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13969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249424"/>
            <a:ext cx="347472" cy="34747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212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Heširanje: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2128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dump-a pre i posle — dokaz neizmjenjenosti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2491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81635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926080"/>
            <a:ext cx="347472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8895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Ekstrakcija: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2889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Logička akvizicija fajl sistema — read-only mount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40156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9300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602736"/>
            <a:ext cx="347472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566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3566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Višeslojna analiza artefakata — 10 modula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078224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416966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4279392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Korelacija: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31720" y="424281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Unakrsna provjera ≥2 nezavisna izvora za svaki nalaz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0" y="14173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 I NAMENA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0" y="1719072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53328" y="17556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53328" y="196596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fajl sistema, ekstrakcija artefakata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276856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53328" y="231343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53328" y="25237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Vizuelni SQL upiti, cross-tabela analiza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0" y="283464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053328" y="287121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sqlite3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53328" y="308152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Automatizacija, read-only konekcije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0" y="3392424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53328" y="342900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android_analyze.py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53328" y="36393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10-modularni alat, razvijen tokom istrage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3600" y="3950208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053328" y="39867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53328" y="419709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Dekodiranje QR kodova (BCH/ETH adrese)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4507992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53328" y="45445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exp.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53328" y="47548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Nezavisna verifikacija BCH/ETH transakcija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" y="4681728"/>
            <a:ext cx="8375904" cy="384048"/>
          </a:xfrm>
          <a:prstGeom prst="roundRect">
            <a:avLst>
              <a:gd name="adj" fmla="val 14286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30352" y="474573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Chain of Custody: Sve SQLite konekcije READ-ONLY · SHA-256 integriteta verificiran · Originalni dump nepromjenjen · Svaka komanda bilježena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01 /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Identifikacija uređaja i korisnika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14173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664208"/>
            <a:ext cx="400507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71907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7190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S10 (SM-G973F)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176272"/>
            <a:ext cx="400507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22311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Čipset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2311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Exynos 9820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688336"/>
            <a:ext cx="400507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7432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7432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(SDK 29)  ·  Build: G973FXXS9DTK9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200400"/>
            <a:ext cx="400507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" y="32552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Bezbj. zakrpa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2552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2020-12-01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712464"/>
            <a:ext cx="400507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" y="37673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MAC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7673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5e:68:ae:81:2d:d0  (randomizovana)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417320"/>
            <a:ext cx="4151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664208"/>
            <a:ext cx="414223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45736" y="171907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vCard zapis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17190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Werner Von Strucker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176272"/>
            <a:ext cx="414223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45736" y="22311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nalog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223113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vonstruckerwerner@gmail.com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2688336"/>
            <a:ext cx="414223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45736" y="27432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27432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@wernervonstrucker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200400"/>
            <a:ext cx="414223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45736" y="32552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Naziv uređaja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325526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712464"/>
            <a:ext cx="4142232" cy="438912"/>
          </a:xfrm>
          <a:prstGeom prst="roundRect">
            <a:avLst>
              <a:gd name="adj" fmla="val 125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45736" y="37673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37673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decode → email + ime potvrđeno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4681728"/>
            <a:ext cx="2066544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build.prop · shared_prefs XML · vCard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505456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05456" y="4681728"/>
            <a:ext cx="2066544" cy="182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96896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· Python (Base64 decode)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26864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26864" y="4681728"/>
            <a:ext cx="2066544" cy="1828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18304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fajl sistema + JWT dekodiranje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48272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48272" y="4681728"/>
            <a:ext cx="2066544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9712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NALAZ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39712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Identitet potvrđen iz 4 nezavisna izvora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02 /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Šifrovana SMS komunikacija — OmniNotes trojanac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1078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Prikriveni kanal: aplikacija za beleške koja šalje AES-šifrovane SMS poruke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996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" y="2084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Šifr. SMS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1463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05456" y="14996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05456" y="2084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0-sek. poziva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463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4996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26864" y="2084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u DEX-u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48272" y="14630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14996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48272" y="2084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5146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514600"/>
            <a:ext cx="64008" cy="10058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7860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 šifrovane poruke  (mmssms.db):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852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HHYd0c1G5C6/IxP3XmVe/PpHEaxfBn4vCM2W5bMxeqYALfxI9h3TZUdPtCf+oamZ...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200400"/>
            <a:ext cx="4709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HHY = prefiks    |    ostatak = Base64( AES-CBC( plaintext ) 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251460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2514600"/>
            <a:ext cx="64008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25786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dokaz — creator polje: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42432" y="28346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creator = it.feio.android.omninotes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42432" y="3108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 za beleške → šalje SMS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dokaz trojanizacije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657600"/>
            <a:ext cx="8375904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657600"/>
            <a:ext cx="64008" cy="77724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730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Distribucija APK-a: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39136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preuzimanje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60520" y="39136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53128" y="39136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bit.ly/3wDLAKx (skraćeni URL)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0488" y="39136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83096" y="39136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hy1.blob.core.windows.net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0456" y="39136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13064" y="391363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OmniNotes-6.1.0-Alpha-1.apk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" y="4681728"/>
            <a:ext cx="2066544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mmssms.db → tabela sms, polje creator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05456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05456" y="4681728"/>
            <a:ext cx="2066544" cy="182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96896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96896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(SQL upit) + Autopsy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26864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4681728"/>
            <a:ext cx="2066544" cy="1828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18304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creator polja + Base64 analiza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48272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48272" y="4681728"/>
            <a:ext cx="2066544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9712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NALAZ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39712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OmniNotes šalje AES SMS → trojanac potvrđen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03 / 07 — STATIČKA APK ANALIZA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DEX skeniranje — OmniNotes vs. legitimne aplikacije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25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417320"/>
            <a:ext cx="25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fajl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4048" y="1417320"/>
            <a:ext cx="11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4048" y="1417320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SEND_SMS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84048" y="1417320"/>
            <a:ext cx="16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84048" y="1417320"/>
            <a:ext cx="16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SmsManager.send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84048" y="1417320"/>
            <a:ext cx="13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4048" y="1417320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lokacija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84048" y="1417320"/>
            <a:ext cx="9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4048" y="1417320"/>
            <a:ext cx="9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84048" y="1417320"/>
            <a:ext cx="150000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4048" y="1417320"/>
            <a:ext cx="15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Ocjena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1783080"/>
            <a:ext cx="25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783080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OmniNotes 6.1.0α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4048" y="1783080"/>
            <a:ext cx="11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4048" y="1783080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84048" y="1783080"/>
            <a:ext cx="16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4048" y="1783080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sendTextMessage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84048" y="1783080"/>
            <a:ext cx="13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4048" y="1783080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mjesta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84048" y="1783080"/>
            <a:ext cx="9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4048" y="1783080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84048" y="1783080"/>
            <a:ext cx="1500000" cy="402336"/>
          </a:xfrm>
          <a:prstGeom prst="rect">
            <a:avLst/>
          </a:prstGeom>
          <a:solidFill>
            <a:srgbClr val="2A1215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84048" y="1783080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KRITIČNO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2212848"/>
            <a:ext cx="25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212848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Evernote 8.13.3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84048" y="2212848"/>
            <a:ext cx="11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4048" y="2212848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84048" y="2212848"/>
            <a:ext cx="16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4048" y="2212848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84048" y="2212848"/>
            <a:ext cx="13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84048" y="2212848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84048" y="2212848"/>
            <a:ext cx="9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84048" y="2212848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84048" y="2212848"/>
            <a:ext cx="1500000" cy="402336"/>
          </a:xfrm>
          <a:prstGeom prst="rect">
            <a:avLst/>
          </a:prstGeom>
          <a:solidFill>
            <a:srgbClr val="261E10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84048" y="2212848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Sumnjivo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2642616"/>
            <a:ext cx="25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642616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2.3.3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884048" y="2642616"/>
            <a:ext cx="11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4048" y="2642616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84048" y="2642616"/>
            <a:ext cx="16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4048" y="2642616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4048" y="2642616"/>
            <a:ext cx="13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048" y="2642616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84048" y="2642616"/>
            <a:ext cx="9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4048" y="2642616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84048" y="2642616"/>
            <a:ext cx="15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84048" y="2642616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Djelimično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4048" y="3072384"/>
            <a:ext cx="25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072384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1.49.0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884048" y="3072384"/>
            <a:ext cx="11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84048" y="3072384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984048" y="3072384"/>
            <a:ext cx="16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84048" y="3072384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84048" y="3072384"/>
            <a:ext cx="13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4048" y="3072384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84048" y="3072384"/>
            <a:ext cx="9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84048" y="3072384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84048" y="3072384"/>
            <a:ext cx="15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84048" y="3072384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Normalno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4048" y="3502152"/>
            <a:ext cx="25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3502152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Allrecipes 6.5.8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884048" y="3502152"/>
            <a:ext cx="11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84048" y="3502152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984048" y="3502152"/>
            <a:ext cx="16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84048" y="3502152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584048" y="3502152"/>
            <a:ext cx="13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84048" y="3502152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84048" y="3502152"/>
            <a:ext cx="9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84048" y="3502152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784048" y="3502152"/>
            <a:ext cx="1500000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84048" y="3502152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Normalno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84048" y="3931920"/>
            <a:ext cx="25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3931920"/>
            <a:ext cx="2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Timer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884048" y="3931920"/>
            <a:ext cx="11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4048" y="3931920"/>
            <a:ext cx="11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984048" y="3931920"/>
            <a:ext cx="16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84048" y="3931920"/>
            <a:ext cx="16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584048" y="3931920"/>
            <a:ext cx="13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84048" y="3931920"/>
            <a:ext cx="13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884048" y="3931920"/>
            <a:ext cx="9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84048" y="3931920"/>
            <a:ext cx="9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784048" y="3931920"/>
            <a:ext cx="1500000" cy="402336"/>
          </a:xfrm>
          <a:prstGeom prst="rect">
            <a:avLst/>
          </a:prstGeom>
          <a:solidFill>
            <a:srgbClr val="F4F7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84048" y="3931920"/>
            <a:ext cx="150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Normalno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84048" y="4645152"/>
            <a:ext cx="8375904" cy="438912"/>
          </a:xfrm>
          <a:prstGeom prst="roundRect">
            <a:avLst>
              <a:gd name="adj" fmla="val 12500"/>
            </a:avLst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530352" y="46817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android_analyze.py "Dump" --apk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251960" y="47000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Mehanizam: zipfile.ZipFile(apk) → čitanje classes.dex → regex za SEND_SMS, AES, sendTextMessage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04 /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Lokacioni tragovi — GPS, EXIF, SBB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81328"/>
            <a:ext cx="201168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Media DB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lokac. + 16 POI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05456" y="1481328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05456" y="1481328"/>
            <a:ext cx="2011680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5184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geotagovanih foto.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481328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481328"/>
            <a:ext cx="20116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 aplikacija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željez. stanice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48272" y="1481328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48272" y="1481328"/>
            <a:ext cx="201168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metapodaci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Potvrda koordinata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98448" y="2286000"/>
            <a:ext cx="36576" cy="23317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359152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34086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72768" y="23225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Raiffeisen banka + ATM 24/24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3225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46.521, 6.629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322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Izviđanje bankarskih lokacija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2752344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34056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09.04.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2715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Neidentifikovan zatvoreni prostor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715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skimming (bez GPS signala)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88720" y="3145536"/>
            <a:ext cx="256032" cy="256032"/>
          </a:xfrm>
          <a:prstGeom prst="ellipse">
            <a:avLst/>
          </a:prstGeom>
          <a:solidFill>
            <a:srgbClr val="8EB4CF"/>
          </a:solidFill>
          <a:ln w="12700">
            <a:solidFill>
              <a:srgbClr val="8EB4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127248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11.04.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72768" y="3108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Bellerive Plage, Ženevsko jezero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108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— potvrda prisustva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88720" y="3538728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52044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572768" y="35021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Lausanne → Genève (SBB voz)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502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SBB ruta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3502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Putovanje ka aerodromskom regionu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3931920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913632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72768" y="38953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Cointrin (aerodromski region)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38953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46.225, 6.101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895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Izviđanje aerodromske infrastrukture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88720" y="4325112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3068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72768" y="42885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Strelište (zatvoreni prostor)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42885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GPS: Nema GPS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288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 oružja i municije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4048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4048" y="4681728"/>
            <a:ext cx="2066544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5488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Media DB · Google Photos DB · EXIF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05456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505456" y="4681728"/>
            <a:ext cx="2066544" cy="182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96896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96896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android_analyze.py --gps + DBeaver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26864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26864" y="4681728"/>
            <a:ext cx="2066544" cy="1828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18304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18304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upiti na 3 DB + EXIF ekstrakcija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748272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748272" y="4681728"/>
            <a:ext cx="2066544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39712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NALAZ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39712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Sistematično izviđanje ključnih lokacija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05 /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DCIM fotografski dokazi i MP3 skimming signal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44752"/>
            <a:ext cx="2697480" cy="36576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53619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 18:21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177393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HYDRA dokument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" y="206654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bit.ly link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'Čekaj instrukcije' (njem.)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444752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444752"/>
            <a:ext cx="2697480" cy="36576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53619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 19:47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28416" y="177393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Raiffeisen banka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206654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Izviđačka fotografija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exteriora poslovnice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53328" y="1444752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444752"/>
            <a:ext cx="2697480" cy="36576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53619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 10:05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63056" y="177393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ICC Cointrin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06654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 uz aerodrom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46.225, 6.101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761488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761488"/>
            <a:ext cx="2697480" cy="36576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52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 16:56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" y="3090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Strelište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" y="33832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Pištolj + municija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mete za gađanje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761488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761488"/>
            <a:ext cx="26974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2852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11.04. 14:42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28416" y="3090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Selfie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28416" y="33832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Identifikacija lica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obale jezera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2761488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2761488"/>
            <a:ext cx="2697480" cy="36576"/>
          </a:xfrm>
          <a:prstGeom prst="rect">
            <a:avLst/>
          </a:prstGeom>
          <a:solidFill>
            <a:srgbClr val="8EB4CF"/>
          </a:solidFill>
          <a:ln w="12700">
            <a:solidFill>
              <a:srgbClr val="8EB4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852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20.04. 12:52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63056" y="3090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Poslednja fotografija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63056" y="33832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Hrana — jutro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polaska iz Ženeve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4133088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0A1925"/>
          </a:solidFill>
          <a:ln w="9525">
            <a:solidFill>
              <a:srgbClr val="E8A83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41879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Skimming signal  (Download/2021_04_09T1621.mp3  ·  88.4s  ·  128 kbps/32 kHz)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434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impulsna brstela na t=18.8s i t=42.7s  ·  Zero-crossing rate = 0.457  →  F2F/Aiken Biphase kodiranje  →  2 čitanja magnetne trake kartice  |  Dan nakon izviđanja banke (08.04.→09.04.)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 06 /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Kriptovalutne aktivnosti — BCH i ETH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5074920" cy="2743200"/>
          </a:xfrm>
          <a:prstGeom prst="roundRect">
            <a:avLst>
              <a:gd name="adj" fmla="val 2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44752"/>
            <a:ext cx="64008" cy="2743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361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Cash (BCH)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 (QR kod):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qpuv475w4wytd6agujpzfl9muzajf9le45nkefd23y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30428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Wallet screenshot → OpenCV QR decode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18.04. 14:52 Uplata: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68833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0.00109609 BCH  (~CHF 0.91)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07238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18.04. 15:49 Proslijeđeno: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307238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iznos → qp9d3p7...xyj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45643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 razmak: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45643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minuta — klasičan relay/tranzitni obrazac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4048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Verifikacija: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84048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blockchair.com — 2 TX nezavisno potvrđene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44752"/>
            <a:ext cx="3090672" cy="1828800"/>
          </a:xfrm>
          <a:prstGeom prst="roundRect">
            <a:avLst>
              <a:gd name="adj" fmla="val 3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444752"/>
            <a:ext cx="64008" cy="18288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 (ETH)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18836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0x1C61Ad6438a017443edeaE1d321d4ffe2Bde6CCE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52160" y="22128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Transakcije na mainnetu: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2468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85216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 generisana ~24 min. pre BCH aktivnosti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pripremljeno za buduće tokove novca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3429000"/>
            <a:ext cx="3090672" cy="658368"/>
          </a:xfrm>
          <a:prstGeom prst="roundRect">
            <a:avLst>
              <a:gd name="adj" fmla="val 8333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0" y="3429000"/>
            <a:ext cx="64008" cy="65836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5021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obrazac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749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 → proslijediti u &lt;1h → otežava praćenje porijekla sredstava (AML tehnika)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4681728"/>
            <a:ext cx="2066544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Wallet DB + screenshot QR + Pictures/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05456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05456" y="4681728"/>
            <a:ext cx="2066544" cy="182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96896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96896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QR decode + blockchair.com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26864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4681728"/>
            <a:ext cx="2066544" cy="1828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18304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dekodiranje + blockchain API upit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48272" y="4681728"/>
            <a:ext cx="2066544" cy="658368"/>
          </a:xfrm>
          <a:prstGeom prst="roundRect">
            <a:avLst>
              <a:gd name="adj" fmla="val 8333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48272" y="4681728"/>
            <a:ext cx="2066544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472744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NALAZ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39712" y="495604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relay u 57 min. → prikrivanje finansijskog toka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ANTI-FORENZIKA U SLUČAJU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 4 Kessler kategorije — identifikovane i dokumentovane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2011680" cy="3493008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44752"/>
            <a:ext cx="201168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Skrivanje podataka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" y="1920240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2039112"/>
            <a:ext cx="137160" cy="137160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OmniNotes trojanac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Funkc. za slanje SMS-a skrivena unutar aplikacije za beleške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" y="3063240"/>
            <a:ext cx="137160" cy="137160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+41786909109 nije u adresaru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Namjerno izostavljanje ključnog sagovornika iz kontakata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4087368"/>
            <a:ext cx="137160" cy="137160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41648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'normalnih' APK-ova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361688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Camouflage: Tasty, Allrecipes, Kitchen Timer, Notes, Evernote...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05456" y="1444752"/>
            <a:ext cx="2011680" cy="3493008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05456" y="1444752"/>
            <a:ext cx="20116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Brisanje artefakata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15184" y="1920240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15184" y="2039112"/>
            <a:ext cx="137160" cy="1371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1993392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Masovni reset identiteta 18.04.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07208" y="2313432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+ Samsung + Swisscom + SwissPass — svi novi nalozi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15184" y="3063240"/>
            <a:ext cx="137160" cy="1371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7208" y="3017520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Napuštanje starog digitalnog 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07208" y="3337560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Prethodni nalozi 'zaostavljeni' — novi bez historije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26864" y="1444752"/>
            <a:ext cx="2011680" cy="3493008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1444752"/>
            <a:ext cx="2011680" cy="457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Zamagljivanje tragova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1920240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039112"/>
            <a:ext cx="137160" cy="137160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1993392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 → Azure Blob Storage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28616" y="2313432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Višeslojni redirect za distribuciju APK-a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063240"/>
            <a:ext cx="137160" cy="137160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3017520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relay novčanik  (57 min.)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28616" y="3337560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Prekid finansijskog traga kroz tranzitnu adresu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36592" y="4087368"/>
            <a:ext cx="137160" cy="137160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4041648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Side-loading mimo Google Play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28616" y="4361688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revizijskog traga u Play Store historiji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48272" y="1444752"/>
            <a:ext cx="2011680" cy="3493008"/>
          </a:xfrm>
          <a:prstGeom prst="roundRect">
            <a:avLst>
              <a:gd name="adj" fmla="val 272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48272" y="1444752"/>
            <a:ext cx="2011680" cy="457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Napadi na alate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1920240"/>
            <a:ext cx="1737360" cy="10973"/>
          </a:xfrm>
          <a:prstGeom prst="rect">
            <a:avLst/>
          </a:prstGeom>
          <a:solidFill>
            <a:srgbClr val="2A4A68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2039112"/>
            <a:ext cx="137160" cy="13716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1993392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SQLCipher DB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50024" y="2313432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poruka nedostupan bez Android Keystore ključa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58000" y="3063240"/>
            <a:ext cx="137160" cy="13716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50024" y="3017520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šifrovane SMS poruke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050024" y="3337560"/>
            <a:ext cx="1618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vidi poruke, ali ne može dešifrovati sadržaj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" y="5047488"/>
            <a:ext cx="8375904" cy="347472"/>
          </a:xfrm>
          <a:prstGeom prst="roundRect">
            <a:avLst>
              <a:gd name="adj" fmla="val 15789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30352" y="509320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Zaključak: Sistematična primjena sve 4 kategorije anti-forenzike karakteriše profesionalno planiranu operativnu aktivnost — ne sporadični kriminal.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REKONSTRUKCIJA AKTIVNOSTI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Hronologija — lanac dokaza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17320" y="1417320"/>
            <a:ext cx="36576" cy="361188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481328"/>
            <a:ext cx="219456" cy="219456"/>
          </a:xfrm>
          <a:prstGeom prst="ellipse">
            <a:avLst/>
          </a:prstGeom>
          <a:solidFill>
            <a:srgbClr val="8EB4CF"/>
          </a:solidFill>
          <a:ln w="12700">
            <a:solidFill>
              <a:srgbClr val="8EB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7218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 18:10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64208" y="1463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aktivnost aplikacija — moguć reset uređaja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0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localappstate.db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98448" y="1847088"/>
            <a:ext cx="219456" cy="21945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3794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 18:21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64208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dokument fotografisan — bit.ly link + instrukcije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06640" y="1847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DCIM + EXIF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98448" y="2212848"/>
            <a:ext cx="219456" cy="21945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0370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 19:47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2194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Izviđanje Raiffeisen banke i ATM 24/24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06640" y="22128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DCIM + GPS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98448" y="2578608"/>
            <a:ext cx="219456" cy="21945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6946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09.04. 16:21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560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skimming — 2 čitanja magnetne trake kartice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06640" y="25786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Download/MP3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98448" y="2944368"/>
            <a:ext cx="219456" cy="21945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352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 09–17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64208" y="2926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Ženeva: ICC Cointrin + strelište + SBB putovanje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DCIM + SBB + GPS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298448" y="3310128"/>
            <a:ext cx="219456" cy="21945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30098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18.04. 14:43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64208" y="3291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BCH/ETH aktivnost: uplata → relay u 57 min.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3310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+ QR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298448" y="3675888"/>
            <a:ext cx="219456" cy="21945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6674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18.04. 17:46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3657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jednosmjerne karte GVA→JFK (20.04.)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36758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Screenshots/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298448" y="4041648"/>
            <a:ext cx="219456" cy="219456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03250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18.04. 23:08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64208" y="4023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nalozi: Signal + Samsung + Swisscom (reset ID)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06640" y="4041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mmssms.db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298448" y="4407408"/>
            <a:ext cx="219456" cy="219456"/>
          </a:xfrm>
          <a:prstGeom prst="ellipse">
            <a:avLst/>
          </a:prstGeom>
          <a:solidFill>
            <a:srgbClr val="8EB4CF"/>
          </a:solidFill>
          <a:ln w="12700">
            <a:solidFill>
              <a:srgbClr val="8EB4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39826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20.04. 12:52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64208" y="43891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Poslednja fotografija uređaja — jutro polaska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06640" y="44074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DCIM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298448" y="4773168"/>
            <a:ext cx="219456" cy="219456"/>
          </a:xfrm>
          <a:prstGeom prst="ellipse">
            <a:avLst/>
          </a:prstGeom>
          <a:solidFill>
            <a:srgbClr val="8EB4CF"/>
          </a:solidFill>
          <a:ln w="12700">
            <a:solidFill>
              <a:srgbClr val="8EB4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7640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21.04. 00:01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4754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Poslednja WiFi aktivnost — FreeWiFi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06640" y="47731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EB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WifiConfigStore.xml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" y="5102352"/>
            <a:ext cx="8375904" cy="329184"/>
          </a:xfrm>
          <a:prstGeom prst="roundRect">
            <a:avLst>
              <a:gd name="adj" fmla="val 16667"/>
            </a:avLst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0352" y="51480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Jednosmjerna karta bez povratnog leta + reset identiteta + poslednja aktivnost 21.04. = planski napuštanje operativnog okruženja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AUTENTIČNOST I OGRANIČENJA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F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Validacija nalaza i granice interpretacije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14173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VERIFIKOVANO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709928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8249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SQLite konekcije — originalni dump nepromjenjen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2194560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671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 markeri: EXIF = DB zapisi = blockchain — konzistentni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679192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BCH/ETH adrese: 2 TX nezavisno potvrđene na blockchair.com / etherscan.io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163824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363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rezultati potvrđeni ručnim DBeaver upitima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64845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2102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Višestruki nezavisni izvori (≥2) potvrđuju svaki ključni zaključak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4142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755648"/>
            <a:ext cx="182880" cy="1828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7099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Logička ekstrakcija: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965960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pristupa svim sistemskim particijama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304288"/>
            <a:ext cx="182880" cy="1828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25856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514600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Kriptografski ključevi nedostupni — utiče na Signal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852928"/>
            <a:ext cx="182880" cy="1828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807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SQLCipher DB: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063240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poruka nepristupačan bez ključa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401568"/>
            <a:ext cx="182880" cy="1828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355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kompresija 128kbps: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3611880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Gubitak preciznosti F2F signala — br. kartica nije čitljiv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3950208"/>
            <a:ext cx="182880" cy="1828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9044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Wallet lokalni DB: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160520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Ograničeni — kompenzovano blockchain verifikacijom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4572000"/>
            <a:ext cx="8375904" cy="502920"/>
          </a:xfrm>
          <a:prstGeom prst="roundRect">
            <a:avLst>
              <a:gd name="adj" fmla="val 10909"/>
            </a:avLst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6360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ne umanjuju dokazni značaj nalaza — definišu granice interpretacije. Ključni zaključci zasnovani su na višestruko potvrđenim, međusobno usklađenim artefaktima.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807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45720" cy="514807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Ključni zaključci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6236208" cy="603504"/>
          </a:xfrm>
          <a:prstGeom prst="roundRect">
            <a:avLst>
              <a:gd name="adj" fmla="val 9091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44752"/>
            <a:ext cx="64008" cy="603504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36192"/>
            <a:ext cx="310896" cy="310896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81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Prikriveni komunikacioni kanal: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148132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OmniNotes trojanac + AES + HYDRA Azure → organizovana kriminalna infrastruktura dokazana statičkom DEX analizom i creator poljem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148840"/>
            <a:ext cx="6236208" cy="603504"/>
          </a:xfrm>
          <a:prstGeom prst="roundRect">
            <a:avLst>
              <a:gd name="adj" fmla="val 9091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148840"/>
            <a:ext cx="64008" cy="60350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40280"/>
            <a:ext cx="310896" cy="31089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1854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Finansijski kriminal: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9232" y="218541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Izviđanje banke (08.04.) → MP3 skimming (09.04.) → BCH relay (18.04.) = dokumentiran lanac aktivnosti sa vremenskim korelacijama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852928"/>
            <a:ext cx="6236208" cy="603504"/>
          </a:xfrm>
          <a:prstGeom prst="roundRect">
            <a:avLst>
              <a:gd name="adj" fmla="val 9091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852928"/>
            <a:ext cx="64008" cy="603504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Planirano napuštanje okruženja: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99232" y="2889504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Jednosmjerna karta + reset ID + posljednja aktivnost 21.04. = forenzički dokazan obrazac bijega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557016"/>
            <a:ext cx="6236208" cy="603504"/>
          </a:xfrm>
          <a:prstGeom prst="roundRect">
            <a:avLst>
              <a:gd name="adj" fmla="val 9091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557016"/>
            <a:ext cx="64008" cy="603504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48456"/>
            <a:ext cx="310896" cy="310896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Anti-forenzička sofisticiranost: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99232" y="3593592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4 Kessler kategorije primijenjene → profil profesionalnog operativnog pristupa koji prevazilazi sporadični kriminal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261104"/>
            <a:ext cx="6236208" cy="603504"/>
          </a:xfrm>
          <a:prstGeom prst="roundRect">
            <a:avLst>
              <a:gd name="adj" fmla="val 9091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4261104"/>
            <a:ext cx="64008" cy="6035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352544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4297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Metodološki doprinos: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99232" y="4297680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Višestruka korelacija ≥2 nezavisnih izvora za svaki zaključak premošćuje ograničenja logičke ekstrakcije i anti-forenzike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1645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 KOJI 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ODLUČUJUĆI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76288" y="2240280"/>
            <a:ext cx="1901952" cy="457200"/>
          </a:xfrm>
          <a:prstGeom prst="roundRect">
            <a:avLst>
              <a:gd name="adj" fmla="val 12000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76288" y="224028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76288" y="2770632"/>
            <a:ext cx="1901952" cy="457200"/>
          </a:xfrm>
          <a:prstGeom prst="roundRect">
            <a:avLst>
              <a:gd name="adj" fmla="val 12000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76288" y="277063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76288" y="3300984"/>
            <a:ext cx="1901952" cy="457200"/>
          </a:xfrm>
          <a:prstGeom prst="roundRect">
            <a:avLst>
              <a:gd name="adj" fmla="val 12000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76288" y="330098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76288" y="3831336"/>
            <a:ext cx="1901952" cy="457200"/>
          </a:xfrm>
          <a:prstGeom prst="roundRect">
            <a:avLst>
              <a:gd name="adj" fmla="val 12000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76288" y="383133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76288" y="4361688"/>
            <a:ext cx="1901952" cy="457200"/>
          </a:xfrm>
          <a:prstGeom prst="roundRect">
            <a:avLst>
              <a:gd name="adj" fmla="val 12000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76288" y="43616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4048" y="4956048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uvid: digitalna forenzika počiva na korelaciji tragova — ne na jednom dokazu, već na konzistentnoj mreži međusobno potvrđenih artefakata.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78240" cy="5148072"/>
          </a:xfrm>
          <a:prstGeom prst="rect">
            <a:avLst/>
          </a:prstGeom>
          <a:solidFill>
            <a:srgbClr val="0A1925"/>
          </a:solidFill>
          <a:ln w="12700">
            <a:solidFill>
              <a:srgbClr val="0A19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38912"/>
            <a:ext cx="8375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Hvala na pažnji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84048" y="1261872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Pitanja?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5486400" cy="10973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993392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 LITERATURA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Maček et al. (2016). Android Forensic and Anti-Forensic Techniques – A Survey. BISEC-2016, Belgrade.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Touron, P. (2017). Le modèle forensique de l'IRCGN. Revue Francophone des Laboratoires, N°489, pp. 25–34.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5409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Kessler, G.C. (2007). Anti-forensics and the digital investigator. 5th Australian Digital Forensics Conf.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Muller &amp; Spreitzenbarth (2013). FROST — Cold boot attack on Android. ACNS, Springer LNCS 7954.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Distefano et al. (2010). Android anti-forensics through a local paradigm. Digital Investigation 7.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Vidas et al. (2011). Toward a general collection methodology for Android. Digital Investigation 8.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5537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DFRWS (2021). IoT Forensic Challenge – Part 3: Android Smartphone Evidence.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99616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15184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30752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61888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77456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93024" y="4773168"/>
            <a:ext cx="1042416" cy="237744"/>
          </a:xfrm>
          <a:prstGeom prst="roundRect">
            <a:avLst>
              <a:gd name="adj" fmla="val 15385"/>
            </a:avLst>
          </a:prstGeom>
          <a:solidFill>
            <a:srgbClr val="2E6B9E">
              <a:alpha val="30000"/>
            </a:srgbClr>
          </a:solidFill>
          <a:ln w="3810">
            <a:solidFill>
              <a:srgbClr val="2E6B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477316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DFRWS 2021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Digitalna Forenzička Analiza Android Uređaja</dc:title>
  <dc:subject>PptxGenJS Presentation</dc:subject>
  <dc:creator>PptxGenJS</dc:creator>
  <cp:lastModifiedBy>PptxGenJS</cp:lastModifiedBy>
  <cp:revision>1</cp:revision>
  <dcterms:created xsi:type="dcterms:W3CDTF">2026-05-17T09:31:45Z</dcterms:created>
  <dcterms:modified xsi:type="dcterms:W3CDTF">2026-05-17T09:31:45Z</dcterms:modified>
</cp:coreProperties>
</file>